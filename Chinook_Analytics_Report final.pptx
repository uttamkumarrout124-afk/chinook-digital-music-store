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5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Records (of 59 customers / 3,503 tracks)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Fax
(Customer)</c:v>
                </c:pt>
                <c:pt idx="1">
                  <c:v>Company
(Customer)</c:v>
                </c:pt>
                <c:pt idx="2">
                  <c:v>State
(Customer)</c:v>
                </c:pt>
                <c:pt idx="3">
                  <c:v>Composer
(Track)</c:v>
                </c:pt>
                <c:pt idx="4">
                  <c:v>Postal Code
(Customer)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</c:v>
                </c:pt>
                <c:pt idx="1">
                  <c:v>49</c:v>
                </c:pt>
                <c:pt idx="2">
                  <c:v>29</c:v>
                </c:pt>
                <c:pt idx="3">
                  <c:v>978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9D-C74B-A070-3DCFB9F893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Van Halen</c:v>
                </c:pt>
                <c:pt idx="1">
                  <c:v>R.E.M.</c:v>
                </c:pt>
                <c:pt idx="2">
                  <c:v>Rolling Stones</c:v>
                </c:pt>
                <c:pt idx="3">
                  <c:v>Nirvana</c:v>
                </c:pt>
                <c:pt idx="4">
                  <c:v>Foo Fighters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42.57</c:v>
                </c:pt>
                <c:pt idx="1">
                  <c:v>37.619999999999997</c:v>
                </c:pt>
                <c:pt idx="2">
                  <c:v>36.630000000000003</c:v>
                </c:pt>
                <c:pt idx="3">
                  <c:v>34.65</c:v>
                </c:pt>
                <c:pt idx="4">
                  <c:v>33.659999999999997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E7-F944-9859-CCDF35EB7A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Genre Revenue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FB7-9342-AF26-2D9A5C3826B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FB7-9342-AF26-2D9A5C3826B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FB7-9342-AF26-2D9A5C3826B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FB7-9342-AF26-2D9A5C3826B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FB7-9342-AF26-2D9A5C3826B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Rock (53%)</c:v>
                </c:pt>
                <c:pt idx="1">
                  <c:v>Alt &amp; Punk (12%)</c:v>
                </c:pt>
                <c:pt idx="2">
                  <c:v>Metal (12%)</c:v>
                </c:pt>
                <c:pt idx="3">
                  <c:v>R&amp;B/Soul (5%)</c:v>
                </c:pt>
                <c:pt idx="4">
                  <c:v>Other (18%)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555.39</c:v>
                </c:pt>
                <c:pt idx="1">
                  <c:v>128.69999999999999</c:v>
                </c:pt>
                <c:pt idx="2">
                  <c:v>122.76</c:v>
                </c:pt>
                <c:pt idx="3">
                  <c:v>52.47</c:v>
                </c:pt>
                <c:pt idx="4">
                  <c:v>181.17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FB7-9342-AF26-2D9A5C3826B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USA</c:v>
                </c:pt>
                <c:pt idx="1">
                  <c:v>Canada</c:v>
                </c:pt>
                <c:pt idx="2">
                  <c:v>France</c:v>
                </c:pt>
                <c:pt idx="3">
                  <c:v>Brazil</c:v>
                </c:pt>
                <c:pt idx="4">
                  <c:v>Germany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D9-B945-A1E0-0B5A1799B0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1040.49</c:v>
                </c:pt>
                <c:pt idx="1">
                  <c:v>535.59</c:v>
                </c:pt>
                <c:pt idx="2">
                  <c:v>427.68</c:v>
                </c:pt>
                <c:pt idx="3">
                  <c:v>389.07</c:v>
                </c:pt>
                <c:pt idx="4">
                  <c:v>334.62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A6-0F46-88A7-11504DA13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ln w="38100" cap="flat">
              <a:solidFill>
                <a:srgbClr val="D6455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B3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52.63</c:v>
                </c:pt>
                <c:pt idx="1">
                  <c:v>56.36</c:v>
                </c:pt>
                <c:pt idx="2">
                  <c:v>55.56</c:v>
                </c:pt>
                <c:pt idx="3">
                  <c:v>36.21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58-EC43-B31A-321B7751551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E7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Rock Revenue (USD)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Canada</c:v>
                </c:pt>
                <c:pt idx="1">
                  <c:v>France</c:v>
                </c:pt>
                <c:pt idx="2">
                  <c:v>Brazil</c:v>
                </c:pt>
                <c:pt idx="3">
                  <c:v>Germany</c:v>
                </c:pt>
                <c:pt idx="4">
                  <c:v>UK</c:v>
                </c:pt>
                <c:pt idx="5">
                  <c:v>Czechia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329.67</c:v>
                </c:pt>
                <c:pt idx="1">
                  <c:v>208.89</c:v>
                </c:pt>
                <c:pt idx="2">
                  <c:v>202.95</c:v>
                </c:pt>
                <c:pt idx="3">
                  <c:v>192.06</c:v>
                </c:pt>
                <c:pt idx="4">
                  <c:v>164.34</c:v>
                </c:pt>
                <c:pt idx="5">
                  <c:v>141.57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67-D74A-A6F3-1A7B48119B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Invoices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Early Adopters
(Jan–Mar 2017)</c:v>
                </c:pt>
                <c:pt idx="1">
                  <c:v>Later Joiners
(Apr 2017+)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10.78</c:v>
                </c:pt>
                <c:pt idx="1">
                  <c:v>9.77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8-7F42-BDD4-A3F286520F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Avg. Spend ($, /10)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Early Adopters
(Jan–Mar 2017)</c:v>
                </c:pt>
                <c:pt idx="1">
                  <c:v>Later Joiners
(Apr 2017+)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8.32</c:v>
                </c:pt>
                <c:pt idx="1">
                  <c:v>7.42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C8-7F42-BDD4-A3F286520F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F08-9744-A351-F8A466478D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F08-9744-A351-F8A466478DAC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08-9744-A351-F8A466478DAC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08-9744-A351-F8A466478DAC}"/>
                </c:ext>
              </c:extLst>
            </c:dLbl>
            <c:numFmt formatCode="General" sourceLinked="0"/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High Value ($40+ lifetime spend) — 56</c:v>
                </c:pt>
                <c:pt idx="1">
                  <c:v>Medium Value ($20–$40) —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08-9744-A351-F8A466478DA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175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252C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52C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332720" y="5120640"/>
            <a:ext cx="1463040" cy="1463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•  BUSINESS INTELLIGENCE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Sales &amp; Catalog Analytics: Insights &amp; Strategic Recommendations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18872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Uttam Kumar Rout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68787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4475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121410"/>
            <a:ext cx="704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operates a global digital music storefront spanning 24 countries. This analysis mines the Chinook relational database (customers, invoices, tracks, albums, artists and genres) to answer 12 objective and 9 subjective business questions covering data quality, sales performance, customer behavior, churn, and revenue opportunity — translating raw transaction data into decisions management can act 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2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3886202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4251962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754882"/>
            <a:ext cx="14721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nulls, duplicates &amp; keys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3794762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95728" y="3886202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95728" y="4251962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4754882"/>
            <a:ext cx="14721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customers, catalog trends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3794762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24528" y="3886202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24528" y="4251962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24528" y="4754882"/>
            <a:ext cx="14721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churn, CLV, risk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3794762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53328" y="3886202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53328" y="4251962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53328" y="4754882"/>
            <a:ext cx="14721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revenue-linked guidance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26680" y="2121410"/>
            <a:ext cx="3977640" cy="3154680"/>
          </a:xfrm>
          <a:prstGeom prst="roundRect">
            <a:avLst>
              <a:gd name="adj" fmla="val 2029"/>
            </a:avLst>
          </a:prstGeom>
          <a:solidFill>
            <a:srgbClr val="1A1B3A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55280" y="226771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AT A GLANCE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265176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64040" y="265176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24 Countries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55280" y="315468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64040" y="315468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Analyzed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55280" y="365760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464040" y="365760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· 347 Albums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55280" y="416052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64040" y="416052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· 25 Genres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55280" y="466344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$4,709.43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464040" y="466344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Captured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Missing Values &amp; Duplicates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(NULL) Values by Field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173390902"/>
              </p:ext>
            </p:extLst>
          </p:nvPr>
        </p:nvGraphicFramePr>
        <p:xfrm>
          <a:off x="457200" y="150876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Check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46520" y="16002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995160" y="162763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primary keys found.
</a:t>
            </a: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IDs are 100% unique across 614 invoices; the primary-key constraint holds.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8803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29718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995160" y="299923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customer records found.
</a:t>
            </a: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first name, last name &amp; email returns zero customers with count &gt; 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43484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44348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" y="450799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the data is clean (no duplicate keys/customers). Optional fields have expected gaps — 28% of tracks lack a composer credit and most consumer fields (Fax, Company, State) are sparsely populated, which is normal for an individual-consumer catalog rather than a data defect.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" y="491032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de-duplication is required. Standardize optional fields going forward: default missing State/Postal Code via address validation at checkout, and backfill Composer from label/rights-management metadata to unlock accurate songwriter royalty and rights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Tracks, Artists &amp; Genres — USA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320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Artists by USA Revenue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591480926"/>
              </p:ext>
            </p:extLst>
          </p:nvPr>
        </p:nvGraphicFramePr>
        <p:xfrm>
          <a:off x="457200" y="1481328"/>
          <a:ext cx="5349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035040" y="1188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Genre Revenue Mix</a:t>
            </a:r>
            <a:endParaRPr lang="en-US" sz="125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1436880161"/>
              </p:ext>
            </p:extLst>
          </p:nvPr>
        </p:nvGraphicFramePr>
        <p:xfrm>
          <a:off x="6035040" y="1481328"/>
          <a:ext cx="5577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977640"/>
            <a:ext cx="11201400" cy="411480"/>
          </a:xfrm>
          <a:prstGeom prst="roundRect">
            <a:avLst>
              <a:gd name="adj" fmla="val 15556"/>
            </a:avLst>
          </a:prstGeom>
          <a:solidFill>
            <a:srgbClr val="1A1B3A"/>
          </a:solidFill>
          <a:ln w="12700">
            <a:solidFill>
              <a:srgbClr val="E7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0080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Track: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“War Pigs” by Cake ($5.94)     </a:t>
            </a: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Most Famous Genre: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— accounts for over half of all USA sales revenue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457200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457200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58368" y="464515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dominates the USA market at 53% of genre revenue, with classic/legacy rock artists (Van Halen, R.E.M., The Rolling Stones, Nirvana) driving the top revenue lines — demand is concentrated, not fragmented.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58368" y="504748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USA marketing spend, playlist placement, and rock catalog acquisition around these proven artists and the Rock/Alternative/Metal genre cluster (77% of USA revenue combined) before diversifying into long-tail genres.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Revenue by Geography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Country (Top 5)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112416696"/>
              </p:ext>
            </p:extLst>
          </p:nvPr>
        </p:nvGraphicFramePr>
        <p:xfrm>
          <a:off x="457200" y="1481328"/>
          <a:ext cx="5349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035040" y="1188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 (Top 5)</a:t>
            </a:r>
            <a:endParaRPr lang="en-US" sz="125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3386515805"/>
              </p:ext>
            </p:extLst>
          </p:nvPr>
        </p:nvGraphicFramePr>
        <p:xfrm>
          <a:off x="6035040" y="1481328"/>
          <a:ext cx="5577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794760"/>
            <a:ext cx="11201400" cy="594360"/>
          </a:xfrm>
          <a:prstGeom prst="roundRect">
            <a:avLst>
              <a:gd name="adj" fmla="val 10769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85800" y="3794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scope note: Chinook stores only geographic fields (country/state/city) — no age or gender data exists, so customer demographics can only be profiled by location.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452628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45262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58368" y="459943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 leads on both customer count (13) and revenue ($1,040, 22% of total), but Canada, Brazil, France and Germany together already contribute over 1.6x the USA's revenue — Chinook's business is genuinely international, not USA-anchored.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58368" y="500176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USA as the flagship market but resource Canada and Brazil as co-priority markets (highest revenue-per-customer efficiency outside the USA); localize catalog curation and payment options for these four secondary markets to defend share.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&amp; Individual Track Preferences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Total Revenue (All Countries)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406588"/>
              </p:ext>
            </p:extLst>
          </p:nvPr>
        </p:nvGraphicFramePr>
        <p:xfrm>
          <a:off x="457200" y="1508760"/>
          <a:ext cx="6858000" cy="230428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František Wichterlová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Czech Republic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$144.54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Helena Holý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Czech Republic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$128.70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Hugh O'Reilly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Ireland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$114.84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Manoj Pareek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$111.87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Luís Gonçalves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Brazil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B3A"/>
                          </a:solidFill>
                        </a:rPr>
                        <a:t>$108.90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1508760"/>
            <a:ext cx="6858000" cy="384048"/>
          </a:xfrm>
          <a:prstGeom prst="rect">
            <a:avLst/>
          </a:prstGeom>
          <a:solidFill>
            <a:srgbClr val="1A1B3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917983"/>
              </p:ext>
            </p:extLst>
          </p:nvPr>
        </p:nvGraphicFramePr>
        <p:xfrm>
          <a:off x="457200" y="1508760"/>
          <a:ext cx="6858000" cy="3840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ysClr val="windowText" lastClr="000000"/>
                          </a:solidFill>
                        </a:rPr>
                        <a:t>Customer A</a:t>
                      </a:r>
                      <a:endParaRPr lang="en-US" sz="11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ysClr val="windowText" lastClr="000000"/>
                          </a:solidFill>
                        </a:rPr>
                        <a:t>Country</a:t>
                      </a:r>
                      <a:endParaRPr lang="en-US" sz="11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ysClr val="windowText" lastClr="000000"/>
                          </a:solidFill>
                        </a:rPr>
                        <a:t>Total Revenue</a:t>
                      </a:r>
                      <a:endParaRPr lang="en-US" sz="11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543800" y="1508760"/>
            <a:ext cx="4114800" cy="2743200"/>
          </a:xfrm>
          <a:prstGeom prst="roundRect">
            <a:avLst>
              <a:gd name="adj" fmla="val 2333"/>
            </a:avLst>
          </a:prstGeom>
          <a:solidFill>
            <a:srgbClr val="1A1B3A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72400" y="1965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ranked with DENSE_RANK() partitioned by country — the full top-5-per-country leaderboard (all 24 countries) is available in the supporting workbook for account-management follow-up.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72400" y="2971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track per customer is identified via ROW_NUMBER() over purchase quantity — giving a ready-made seed list for 1:1 recommendation emails.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443484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44348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58368" y="450799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individual customers sit outside the USA (Czech Republic, Ireland, India, Brazil) — top spend is not concentrated in the largest market, and every customer's favorite track is now individually identifiable.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8368" y="491032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VIP relationship program for the top-5-per-country customer list, and use each customer's top track as the seed for automated “more like this” recommendation emails to lift repeat purchase rate.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600837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700" dirty="0"/>
              <a:t>Customer Purchasing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t"/>
          <a:lstStyle>
            <a:lvl1pPr>
              <a:defRPr sz="1050" b="1">
                <a:solidFill>
                  <a:srgbClr val="FF6B35"/>
                </a:solidFill>
                <a:latin typeface="Calibri" pitchFamily="34" charset="0"/>
                <a:cs typeface="Calibri" pitchFamily="34" charset="-120"/>
              </a:defRPr>
            </a:lvl1pPr>
            <a:lvl2pPr marL="0" lvl="1">
              <a:defRPr sz="1050" b="1">
                <a:latin typeface="Calibri" pitchFamily="34" charset="0"/>
                <a:cs typeface="Calibri" pitchFamily="34" charset="-120"/>
              </a:defRPr>
            </a:lvl2pPr>
          </a:lstStyle>
          <a:p>
            <a:r>
              <a:rPr dirty="0"/>
              <a:t> Purchase Frequency | Average Order Value | Basket Size</a:t>
            </a:r>
          </a:p>
        </p:txBody>
      </p:sp>
      <p:pic>
        <p:nvPicPr>
          <p:cNvPr id="4" name="Picture 3" descr="image(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492240" cy="38552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2558289"/>
            <a:ext cx="4572000" cy="117398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r>
              <a:rPr lang="en-IN" sz="1050" b="1" dirty="0">
                <a:solidFill>
                  <a:srgbClr val="FF6B35"/>
                </a:solidFill>
                <a:latin typeface="Calibri" pitchFamily="34" charset="0"/>
                <a:cs typeface="Calibri" pitchFamily="34" charset="-120"/>
              </a:rPr>
              <a:t>INSIGHT</a:t>
            </a:r>
          </a:p>
          <a:p>
            <a:pPr marL="0" lvl="1"/>
            <a:r>
              <a:rPr sz="1050" dirty="0">
                <a:solidFill>
                  <a:schemeClr val="tx1"/>
                </a:solidFill>
                <a:latin typeface="Calibri" pitchFamily="34" charset="0"/>
                <a:cs typeface="Calibri" pitchFamily="34" charset="-120"/>
              </a:rPr>
              <a:t>• Customers have 4–18 invoices, indicating different engagement levels.</a:t>
            </a:r>
          </a:p>
          <a:p>
            <a:pPr marL="0" lvl="1"/>
            <a:r>
              <a:rPr sz="1050" dirty="0">
                <a:solidFill>
                  <a:schemeClr val="tx1"/>
                </a:solidFill>
                <a:latin typeface="Calibri" pitchFamily="34" charset="0"/>
                <a:cs typeface="Calibri" pitchFamily="34" charset="-120"/>
              </a:rPr>
              <a:t>• Average order value varies considerably by customer.</a:t>
            </a:r>
          </a:p>
          <a:p>
            <a:pPr marL="0" lvl="1"/>
            <a:r>
              <a:rPr sz="1050" dirty="0">
                <a:solidFill>
                  <a:schemeClr val="tx1"/>
                </a:solidFill>
                <a:latin typeface="Calibri" pitchFamily="34" charset="0"/>
                <a:cs typeface="Calibri" pitchFamily="34" charset="-120"/>
              </a:rPr>
              <a:t>• High track purchases (&gt;100) indicate loyal, high-value customers.</a:t>
            </a:r>
          </a:p>
          <a:p>
            <a:pPr marL="0" lvl="1"/>
            <a:r>
              <a:rPr sz="1050" dirty="0">
                <a:solidFill>
                  <a:schemeClr val="tx1"/>
                </a:solidFill>
                <a:latin typeface="Calibri" pitchFamily="34" charset="0"/>
                <a:cs typeface="Calibri" pitchFamily="34" charset="-120"/>
              </a:rPr>
              <a:t>• Payment-method analysis is unavailable because the database has no payment-method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63194" y="3847280"/>
            <a:ext cx="4572000" cy="9911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r>
              <a:rPr lang="en-IN" sz="1050" b="1" dirty="0">
                <a:solidFill>
                  <a:schemeClr val="accent5"/>
                </a:solidFill>
                <a:latin typeface="Calibri" pitchFamily="34" charset="0"/>
                <a:cs typeface="Calibri" pitchFamily="34" charset="-120"/>
              </a:rPr>
              <a:t>RECOMMENDATION</a:t>
            </a:r>
          </a:p>
          <a:p>
            <a:pPr marL="0" lvl="1"/>
            <a:r>
              <a:rPr sz="1050" dirty="0">
                <a:latin typeface="Calibri" pitchFamily="34" charset="0"/>
                <a:cs typeface="Calibri" pitchFamily="34" charset="-120"/>
              </a:rPr>
              <a:t>• Launch loyalty </a:t>
            </a:r>
            <a:r>
              <a:rPr sz="1050" dirty="0" err="1">
                <a:latin typeface="Calibri" pitchFamily="34" charset="0"/>
                <a:cs typeface="Calibri" pitchFamily="34" charset="-120"/>
              </a:rPr>
              <a:t>programmes</a:t>
            </a:r>
            <a:r>
              <a:rPr sz="1050" dirty="0">
                <a:latin typeface="Calibri" pitchFamily="34" charset="0"/>
                <a:cs typeface="Calibri" pitchFamily="34" charset="-120"/>
              </a:rPr>
              <a:t> for frequent buyers.</a:t>
            </a:r>
          </a:p>
          <a:p>
            <a:pPr marL="0" lvl="1"/>
            <a:r>
              <a:rPr sz="1050" dirty="0">
                <a:latin typeface="Calibri" pitchFamily="34" charset="0"/>
                <a:cs typeface="Calibri" pitchFamily="34" charset="-120"/>
              </a:rPr>
              <a:t>• Re-engage low-frequency customers with targeted offers.</a:t>
            </a:r>
          </a:p>
          <a:p>
            <a:pPr marL="0" lvl="1"/>
            <a:r>
              <a:rPr sz="1050" dirty="0">
                <a:latin typeface="Calibri" pitchFamily="34" charset="0"/>
                <a:cs typeface="Calibri" pitchFamily="34" charset="-120"/>
              </a:rPr>
              <a:t>• Use cross-selling recommendations to increase basket size.</a:t>
            </a:r>
          </a:p>
          <a:p>
            <a:pPr marL="0" lvl="1"/>
            <a:r>
              <a:rPr sz="1050" dirty="0">
                <a:latin typeface="Calibri" pitchFamily="34" charset="0"/>
                <a:cs typeface="Calibri" pitchFamily="34" charset="-120"/>
              </a:rPr>
              <a:t>• Monitor AOV, basket size and purchase frequency monthly.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21" y="5334453"/>
            <a:ext cx="117596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/>
            </a:pPr>
            <a:r>
              <a:rPr dirty="0"/>
              <a:t>Conclusion: Purchase frequency, Average Order Value and Basket Size are key indicators of customer loyalty and future revenue growth.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77EF287-7ECF-9068-A50E-5317C0982E46}"/>
              </a:ext>
            </a:extLst>
          </p:cNvPr>
          <p:cNvSpPr/>
          <p:nvPr/>
        </p:nvSpPr>
        <p:spPr>
          <a:xfrm>
            <a:off x="7097191" y="962452"/>
            <a:ext cx="1793834" cy="598324"/>
          </a:xfrm>
          <a:prstGeom prst="roundRect">
            <a:avLst>
              <a:gd name="adj" fmla="val 4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EC45C3-FB14-DB28-D163-95B060B7A51A}"/>
              </a:ext>
            </a:extLst>
          </p:cNvPr>
          <p:cNvSpPr/>
          <p:nvPr/>
        </p:nvSpPr>
        <p:spPr>
          <a:xfrm>
            <a:off x="7157999" y="905508"/>
            <a:ext cx="1672219" cy="501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4676FA-0698-F28C-B80A-1EADF8403D65}"/>
              </a:ext>
            </a:extLst>
          </p:cNvPr>
          <p:cNvSpPr/>
          <p:nvPr/>
        </p:nvSpPr>
        <p:spPr>
          <a:xfrm>
            <a:off x="7157999" y="1329176"/>
            <a:ext cx="1672219" cy="34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Invoices per Customer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70D715-98E4-8BB4-5C9D-19A75F45EE33}"/>
              </a:ext>
            </a:extLst>
          </p:cNvPr>
          <p:cNvSpPr/>
          <p:nvPr/>
        </p:nvSpPr>
        <p:spPr>
          <a:xfrm>
            <a:off x="9931831" y="962452"/>
            <a:ext cx="1793834" cy="598324"/>
          </a:xfrm>
          <a:prstGeom prst="roundRect">
            <a:avLst>
              <a:gd name="adj" fmla="val 4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AECD25-B203-A11B-AF47-533C21F119E5}"/>
              </a:ext>
            </a:extLst>
          </p:cNvPr>
          <p:cNvSpPr/>
          <p:nvPr/>
        </p:nvSpPr>
        <p:spPr>
          <a:xfrm>
            <a:off x="9992638" y="905508"/>
            <a:ext cx="1672219" cy="501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$9.77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7B9019C-632D-2C2D-ACA2-754F02392723}"/>
              </a:ext>
            </a:extLst>
          </p:cNvPr>
          <p:cNvSpPr/>
          <p:nvPr/>
        </p:nvSpPr>
        <p:spPr>
          <a:xfrm>
            <a:off x="9992639" y="1329176"/>
            <a:ext cx="1672219" cy="34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B289D0B-F03D-014B-8FB4-0746F5CA577E}"/>
              </a:ext>
            </a:extLst>
          </p:cNvPr>
          <p:cNvSpPr/>
          <p:nvPr/>
        </p:nvSpPr>
        <p:spPr>
          <a:xfrm>
            <a:off x="7099302" y="1844458"/>
            <a:ext cx="1793834" cy="566928"/>
          </a:xfrm>
          <a:prstGeom prst="roundRect">
            <a:avLst>
              <a:gd name="adj" fmla="val 4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C033A46-95B0-91F9-EA85-DC5E274951CE}"/>
              </a:ext>
            </a:extLst>
          </p:cNvPr>
          <p:cNvSpPr/>
          <p:nvPr/>
        </p:nvSpPr>
        <p:spPr>
          <a:xfrm>
            <a:off x="7160110" y="1879124"/>
            <a:ext cx="1672219" cy="36081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FB769E-5E44-2A49-EAB5-A40E1788C03E}"/>
              </a:ext>
            </a:extLst>
          </p:cNvPr>
          <p:cNvSpPr/>
          <p:nvPr/>
        </p:nvSpPr>
        <p:spPr>
          <a:xfrm>
            <a:off x="7160110" y="2179786"/>
            <a:ext cx="1672219" cy="34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Tracks per Basket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169C455-D5DA-DFF8-E1E7-BEF30A81D193}"/>
              </a:ext>
            </a:extLst>
          </p:cNvPr>
          <p:cNvSpPr/>
          <p:nvPr/>
        </p:nvSpPr>
        <p:spPr>
          <a:xfrm>
            <a:off x="9923305" y="1844959"/>
            <a:ext cx="1793834" cy="598324"/>
          </a:xfrm>
          <a:prstGeom prst="roundRect">
            <a:avLst>
              <a:gd name="adj" fmla="val 4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A35D27E-0A61-397E-36C0-05AC51A2920D}"/>
              </a:ext>
            </a:extLst>
          </p:cNvPr>
          <p:cNvSpPr/>
          <p:nvPr/>
        </p:nvSpPr>
        <p:spPr>
          <a:xfrm>
            <a:off x="9993823" y="1788015"/>
            <a:ext cx="1672219" cy="501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9FF0AB3-87DD-120D-B911-E5DD5E3C9C9F}"/>
              </a:ext>
            </a:extLst>
          </p:cNvPr>
          <p:cNvSpPr/>
          <p:nvPr/>
        </p:nvSpPr>
        <p:spPr>
          <a:xfrm>
            <a:off x="9984113" y="2211683"/>
            <a:ext cx="1672219" cy="34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0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1E37409-B350-2FA3-5028-0FBBA8DB176F}"/>
              </a:ext>
            </a:extLst>
          </p:cNvPr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Rate — Year-on-Year Trend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320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08-12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Sales Year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481328"/>
          <a:ext cx="60350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720840" y="1188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Customer Counts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1508760"/>
            <a:ext cx="4937760" cy="384048"/>
          </a:xfrm>
          <a:prstGeom prst="rect">
            <a:avLst/>
          </a:prstGeom>
          <a:solidFill>
            <a:srgbClr val="1A1B3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88459"/>
              </p:ext>
            </p:extLst>
          </p:nvPr>
        </p:nvGraphicFramePr>
        <p:xfrm>
          <a:off x="6720840" y="1508760"/>
          <a:ext cx="4937760" cy="19202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Total Cust.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Churned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Churn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2017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52.63%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2018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56.36%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55.56%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36.21%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932350"/>
              </p:ext>
            </p:extLst>
          </p:nvPr>
        </p:nvGraphicFramePr>
        <p:xfrm>
          <a:off x="6720840" y="1508760"/>
          <a:ext cx="4937760" cy="38404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Total Cust.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Churned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Churn %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20840" y="370332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903720" y="3703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a customer is “churned” in a sales year if their last purchase in that year trails the year's latest invoice date by more than 3 months.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4434840"/>
            <a:ext cx="11201400" cy="1078992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2"/>
          <p:cNvSpPr/>
          <p:nvPr/>
        </p:nvSpPr>
        <p:spPr>
          <a:xfrm>
            <a:off x="457200" y="4434840"/>
            <a:ext cx="76200" cy="107899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58368" y="450799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held stubbornly above 52% for three straight years (2017–19) before dropping to 36.21% in 2020 — a real improvement, but one to verify: 2020 is the final year in the dataset, so customers who buy late in the year haven't had a full 3-month window to be flagged as churned yet, which can artificially deflate the most recent year's rate.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58368" y="4910328"/>
            <a:ext cx="108356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2017–19's ~55% average as the true baseline risk and prioritize the win-back program regardless of the 2020 figure; re-run this year-wise churn query once more months of 2020+ data land to confirm whether the improvement is genuine or a reporting-window artifact, and monitor churn quarterly rather than as a single point-in-time number.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Q9 &amp; Q11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Sales Contribution &amp; Ranking — USA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52C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61320" y="320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6400800" cy="384048"/>
          </a:xfrm>
          <a:prstGeom prst="rect">
            <a:avLst/>
          </a:prstGeom>
          <a:solidFill>
            <a:srgbClr val="1A1B3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21098"/>
              </p:ext>
            </p:extLst>
          </p:nvPr>
        </p:nvGraphicFramePr>
        <p:xfrm>
          <a:off x="457200" y="1371600"/>
          <a:ext cx="6400800" cy="230428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Genre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USA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% of USA 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Rock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$555.39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Alternative &amp; Punk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$128.70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12.4%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Metal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$122.76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11.8%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R&amp;B/Soul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$52.47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Blues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$35.64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B3A"/>
                          </a:solidFill>
                        </a:rPr>
                        <a:t>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8186"/>
              </p:ext>
            </p:extLst>
          </p:nvPr>
        </p:nvGraphicFramePr>
        <p:xfrm>
          <a:off x="457200" y="1371600"/>
          <a:ext cx="6400800" cy="38404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Rank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Genre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USA Revenue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% of USA Sales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086600" y="1371600"/>
            <a:ext cx="4572000" cy="2834640"/>
          </a:xfrm>
          <a:prstGeom prst="roundRect">
            <a:avLst>
              <a:gd name="adj" fmla="val 2258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31520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DIVERSITY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0" y="1783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7315200" y="246888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Chinook's 59 customers have purchased tracks from 3 or more distinct genres — every single customer is a genre-diverse, cross-sell-ready buyer.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443484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44348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58368" y="450799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Rock, Alternative &amp; Punk and Metal together generate over 77% of USA revenue, yet every customer already buys across 3+ genres — the audience is diverse in taste even though revenue is genre-concentrated.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58368" y="491032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USA promotional budget in the Rock/Alt/Metal cluster for guaranteed return, while using each customer's proven genre diversity to cross-sell adjacent genres (e.g., Blues, R&amp;B) via personalized playlists rather than one-size-fits-all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Advertising Priorities &amp; Global Genre Trends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320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 01-02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19367" y="6565392"/>
            <a:ext cx="3763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Albums to Prioritize — USA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" y="1691640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691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609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Experienced?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901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Jimi Hendrix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53619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$27.72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" y="2514600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514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Muddy Banks Of The Wishkah [Live]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35915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$27.72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" y="3337560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337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255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547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18211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 Outside the USA, by Country</a:t>
            </a:r>
            <a:endParaRPr lang="en-US" sz="125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1934820312"/>
              </p:ext>
            </p:extLst>
          </p:nvPr>
        </p:nvGraphicFramePr>
        <p:xfrm>
          <a:off x="6263640" y="150876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7"/>
          <p:cNvSpPr/>
          <p:nvPr/>
        </p:nvSpPr>
        <p:spPr>
          <a:xfrm>
            <a:off x="6263640" y="3886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ranks #1 in every one of the 23 non-USA countries analyzed — identical to the USA.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452628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45262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58368" y="459943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Rock's dominance is universal, not USA-specific — every market shows the same #1 genre, meaning global catalog strategy can be centralized rather than country-customized.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8368" y="500176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three named albums for a global (not just USA) advertising push; run one worldwide Rock-focused campaign rather than fragmenting budget into per-country genre strategies, reserving country-level customization for secondary genres only.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Loyalty, Product Affinity &amp; Regional Patterns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320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 03-05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94008" y="6565392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Cohorts: Early Adopters vs. Later Joiners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066044867"/>
              </p:ext>
            </p:extLst>
          </p:nvPr>
        </p:nvGraphicFramePr>
        <p:xfrm>
          <a:off x="457200" y="1481328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(Spend shown ÷10 to share an axis with invoice count: Early adopters avg $83.16 vs $74.20 for later joiners)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0" y="15361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AFFINITY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1783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Hendrix &amp; Nirvana tracks are the most frequently co-purchased pairs (e.g. “Foxy Lady” + “Third Stone From The Sun”, bought together 9 times) — driven by whole-album purchase behavior.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27889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907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 PATTERN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invoice value is remarkably stable across top markets ($7.01–$8.16), while total revenue is driven by customer count, not local spending power — suggesting acquisition, not pricing, is the main regional lever.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43484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44348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" y="450799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 spend ~12% more per year and buy more often, and purchases cluster by whole album rather than single tracks; average order value barely varies by country, so revenue growth is an acquisition problem, not a pricing or regional-behavior problem.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" y="491032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tier that rewards tenure (bonus content or early access) to protect the highest-value early-adopter cohort; add “complete the album” and “customers also bought” prompts at checkout; and focus regional growth investment on new customer acquisition rather than local price/catalog tuning.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Profiling &amp; Lifetime Value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DIGITAL MUSIC STORE  |  DATA ANALYTICS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94008" y="6565392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Segments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500220326"/>
              </p:ext>
            </p:extLst>
          </p:nvPr>
        </p:nvGraphicFramePr>
        <p:xfrm>
          <a:off x="457200" y="1508760"/>
          <a:ext cx="5394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977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customers fall below $20 lifetime spend — the base is small (59) but consistently engaged.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394960" cy="2834640"/>
          </a:xfrm>
          <a:prstGeom prst="roundRect">
            <a:avLst>
              <a:gd name="adj" fmla="val 2258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(No age/gender data available)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202082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93408" y="18928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last purchase is the strongest available churn signal — 22 customers already exceed the 3-month inactivity threshold.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27340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93408" y="2606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lifetime spend does not guarantee retention: several high-CLV customers are also among the longest-inactive — these are the highest-priority win-back targets.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92240" y="344728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93408" y="331927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95% of customers already qualify as “High Value,” spend alone is a poor risk filter — recency and frequency matter more here than absolute spend.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52628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4EF"/>
          </a:solidFill>
          <a:ln w="12700">
            <a:solidFill>
              <a:srgbClr val="E7E9F2"/>
            </a:solidFill>
            <a:prstDash val="solid"/>
          </a:ln>
          <a:effectLst>
            <a:outerShdw blurRad="76200" dist="25400" dir="5400000" algn="bl" rotWithShape="0">
              <a:srgbClr val="1A1B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5262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8368" y="4599432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is high and fairly uniform across the base, so the real differentiator of future value is behavioral (recency, frequency) rather than demographic (unavailable) or spend-tier — and the highest financial risk sits with high-spend customers who have gone quiet.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8368" y="5001768"/>
            <a:ext cx="10835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two-factor risk score (recency × historical spend) instead of spend-tier alone; route high-CLV + high-inactivity customers into a white-glove win-back outreach before generic churn campaigns, since losing them carries outsized revenue impact.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645920"/>
            <a:ext cx="3840480" cy="3840480"/>
          </a:xfrm>
          <a:prstGeom prst="ellipse">
            <a:avLst/>
          </a:prstGeom>
          <a:solidFill>
            <a:srgbClr val="252C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 for Management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813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churn first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60520" y="14813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churn rate is the top financial risk — launch a 60-day inactivity win-back journey, prioritizing high-CLV inactive customers.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Concentrate, don't scatter, marketing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2194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Rock/Alternative/Metal drive 77%+ of revenue in every market — fund one global campaign around the top 3 albums and artists instead of per-country plans.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through acquisition, not price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60520" y="29077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values are stable across countries — revenue growth in secondary markets (Canada, Brazil, France, Germany) should come from new customers, not pricing changes.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210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Personalize, don't generalize, retention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60520" y="362102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already buys 3+ genres and has an identifiable top track — use this for automated cross-sell and “complete the album” prompts at checkout.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342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two data gaps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60520" y="433425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payment_method to Invoice and complete Composer metadata — both block deeper checkout and rights-management analytics.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Chinook database, though modest in scale, is clean and rich enough to support real decisions today: a churn-reduction program, a focused catalog marketing push, and two schema additions will meaningfully improve both revenue retention and future analytical depth.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2219</Words>
  <Application>Microsoft Macintosh PowerPoint</Application>
  <PresentationFormat>Widescreen</PresentationFormat>
  <Paragraphs>261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Rout, Uttam Kumar</cp:lastModifiedBy>
  <cp:revision>5</cp:revision>
  <dcterms:created xsi:type="dcterms:W3CDTF">2026-07-23T16:28:08Z</dcterms:created>
  <dcterms:modified xsi:type="dcterms:W3CDTF">2026-07-27T14:38:22Z</dcterms:modified>
</cp:coreProperties>
</file>